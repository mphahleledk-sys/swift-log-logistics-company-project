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64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Delay model AUC: honest vs leaked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Lbls>
            <c:numFmt formatCode="0.00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Honest features</c:v>
                </c:pt>
                <c:pt idx="1">
                  <c:v>+ DelayDays</c:v>
                </c:pt>
                <c:pt idx="2">
                  <c:v>+ Delivery status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0.51600000000000001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8128128"/>
        <c:axId val="68166784"/>
      </c:barChart>
      <c:catAx>
        <c:axId val="68128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68166784"/>
        <c:crosses val="autoZero"/>
        <c:auto val="1"/>
        <c:lblAlgn val="ctr"/>
        <c:lblOffset val="100"/>
        <c:noMultiLvlLbl val="1"/>
      </c:catAx>
      <c:valAx>
        <c:axId val="68166784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68128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Value captured by top 20% of customers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Captured</c:v>
                </c:pt>
              </c:strCache>
            </c:strRef>
          </c:tx>
          <c:spPr>
            <a:solidFill>
              <a:srgbClr val="5C6B7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C896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Lbls>
            <c:numFmt formatCode="0.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Perfect</c:v>
                </c:pt>
                <c:pt idx="1">
                  <c:v>Random</c:v>
                </c:pt>
                <c:pt idx="2">
                  <c:v>Run-rate rule</c:v>
                </c:pt>
                <c:pt idx="3">
                  <c:v>ML model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56.6</c:v>
                </c:pt>
                <c:pt idx="1">
                  <c:v>20</c:v>
                </c:pt>
                <c:pt idx="2">
                  <c:v>14.6</c:v>
                </c:pt>
                <c:pt idx="3">
                  <c:v>11.5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2342144"/>
        <c:axId val="69009792"/>
      </c:barChart>
      <c:catAx>
        <c:axId val="7234214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69009792"/>
        <c:crosses val="autoZero"/>
        <c:auto val="1"/>
        <c:lblAlgn val="ctr"/>
        <c:lblOffset val="100"/>
        <c:noMultiLvlLbl val="1"/>
      </c:catAx>
      <c:valAx>
        <c:axId val="69009792"/>
        <c:scaling>
          <c:orientation val="minMax"/>
          <c:max val="70"/>
          <c:min val="0"/>
        </c:scaling>
        <c:delete val="0"/>
        <c:axPos val="t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7234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CA0CE-E233-46A2-92CF-4D1EA7E5640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756CF-C6E4-4DF2-A517-06C67AEF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7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by Innocent Mphahlele.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first: the honest answer is that prediction is not yet viable, and the path to fix it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2743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818888"/>
            <a:ext cx="8229600" cy="0"/>
          </a:xfrm>
          <a:prstGeom prst="line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546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Innocent Mphahlele   |   SwiftLog Logistics ML05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 |   MISSION ML05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learning, analytics and operations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insights, visuals and recommendations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005840" cy="45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Innocent Mphahlele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</a:t>
            </a:r>
            <a:r>
              <a:rPr lang="en-US" sz="1200" dirty="0" smtClean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–Machine Learning Internship</a:t>
            </a:r>
            <a:r>
              <a:rPr lang="en-US" sz="1200" dirty="0" smtClean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18 October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summary: monitor now, predict once data improves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t0.5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of 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beat their naive baseline</a:t>
            </a:r>
            <a:endParaRPr lang="en-US" sz="1000" dirty="0"/>
          </a:p>
        </p:txBody>
      </p:sp>
      <p:sp>
        <p:nvSpPr>
          <p:cNvPr id="7" name="st2.75"/>
          <p:cNvSpPr/>
          <p:nvPr/>
        </p:nvSpPr>
        <p:spPr>
          <a:xfrm>
            <a:off x="25146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shipments late, network-wide</a:t>
            </a:r>
            <a:endParaRPr lang="en-US" sz="1000" dirty="0"/>
          </a:p>
        </p:txBody>
      </p:sp>
      <p:sp>
        <p:nvSpPr>
          <p:cNvPr id="10" name="st5"/>
          <p:cNvSpPr/>
          <p:nvPr/>
        </p:nvSpPr>
        <p:spPr>
          <a:xfrm>
            <a:off x="45720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~101 mo.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stock cover vs recent shipments</a:t>
            </a:r>
            <a:endParaRPr lang="en-US" sz="1000" dirty="0"/>
          </a:p>
        </p:txBody>
      </p:sp>
      <p:sp>
        <p:nvSpPr>
          <p:cNvPr id="13" name="st7.25"/>
          <p:cNvSpPr/>
          <p:nvPr/>
        </p:nvSpPr>
        <p:spPr>
          <a:xfrm>
            <a:off x="6629400" y="1097280"/>
            <a:ext cx="2057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1430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737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(Streamlit + HTML)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231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built, tuned and tested four prediction models (delay, returns, customer value, demand) on unseen future data; none beat a simple baseline. The outcomes are statistically unrelated to what SwiftLog records today.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 is a company-wide process problem: no warehouse, city or order type is significantly worse.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block value: no supplier link, no promised delivery date or event timestamps, no capacity figures, contradictory order statuses, duplicate inventory records.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now: live monitoring dashboards with alerts, warehouse capacity KPIs and a clear data-capture roadmap.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and approach: six problems, one safe pipeline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p0"/>
          <p:cNvSpPr/>
          <p:nvPr/>
        </p:nvSpPr>
        <p:spPr>
          <a:xfrm>
            <a:off x="457200" y="109728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6583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Built</a:t>
            </a:r>
            <a:endParaRPr lang="en-US" sz="1050" dirty="0"/>
          </a:p>
        </p:txBody>
      </p:sp>
      <p:sp>
        <p:nvSpPr>
          <p:cNvPr id="8" name="p1"/>
          <p:cNvSpPr/>
          <p:nvPr/>
        </p:nvSpPr>
        <p:spPr>
          <a:xfrm>
            <a:off x="3246120" y="109728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97280"/>
            <a:ext cx="64008" cy="6583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Built</a:t>
            </a:r>
            <a:endParaRPr lang="en-US" sz="1050" dirty="0"/>
          </a:p>
        </p:txBody>
      </p:sp>
      <p:sp>
        <p:nvSpPr>
          <p:cNvPr id="12" name="p2"/>
          <p:cNvSpPr/>
          <p:nvPr/>
        </p:nvSpPr>
        <p:spPr>
          <a:xfrm>
            <a:off x="6035040" y="109728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97280"/>
            <a:ext cx="64008" cy="6583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|  Built</a:t>
            </a:r>
            <a:endParaRPr lang="en-US" sz="1050" dirty="0"/>
          </a:p>
        </p:txBody>
      </p:sp>
      <p:sp>
        <p:nvSpPr>
          <p:cNvPr id="16" name="p3"/>
          <p:cNvSpPr/>
          <p:nvPr/>
        </p:nvSpPr>
        <p:spPr>
          <a:xfrm>
            <a:off x="457200" y="187452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74520"/>
            <a:ext cx="64008" cy="6583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|  Built</a:t>
            </a:r>
            <a:endParaRPr lang="en-US" sz="1050" dirty="0"/>
          </a:p>
        </p:txBody>
      </p:sp>
      <p:sp>
        <p:nvSpPr>
          <p:cNvPr id="20" name="p4"/>
          <p:cNvSpPr/>
          <p:nvPr/>
        </p:nvSpPr>
        <p:spPr>
          <a:xfrm>
            <a:off x="3246120" y="187452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874520"/>
            <a:ext cx="64008" cy="65836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reliability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10712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link  |  Method only</a:t>
            </a:r>
            <a:endParaRPr lang="en-US" sz="1050" dirty="0"/>
          </a:p>
        </p:txBody>
      </p:sp>
      <p:sp>
        <p:nvSpPr>
          <p:cNvPr id="24" name="p5"/>
          <p:cNvSpPr/>
          <p:nvPr/>
        </p:nvSpPr>
        <p:spPr>
          <a:xfrm>
            <a:off x="6035040" y="187452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874520"/>
            <a:ext cx="64008" cy="65836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9632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+ capacity KPIs  |  Dashboard</a:t>
            </a:r>
            <a:endParaRPr lang="en-US" sz="1050" dirty="0"/>
          </a:p>
        </p:txBody>
      </p:sp>
      <p:sp>
        <p:nvSpPr>
          <p:cNvPr id="28" name="sv0"/>
          <p:cNvSpPr/>
          <p:nvPr/>
        </p:nvSpPr>
        <p:spPr>
          <a:xfrm>
            <a:off x="457200" y="278892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200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join 11 tables</a:t>
            </a:r>
            <a:endParaRPr lang="en-US" sz="1150" dirty="0"/>
          </a:p>
        </p:txBody>
      </p:sp>
      <p:sp>
        <p:nvSpPr>
          <p:cNvPr id="31" name="sv1"/>
          <p:cNvSpPr/>
          <p:nvPr/>
        </p:nvSpPr>
        <p:spPr>
          <a:xfrm>
            <a:off x="2121408" y="278892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21408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212848" y="3200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leakage-safe features</a:t>
            </a:r>
            <a:endParaRPr lang="en-US" sz="1150" dirty="0"/>
          </a:p>
        </p:txBody>
      </p:sp>
      <p:sp>
        <p:nvSpPr>
          <p:cNvPr id="34" name="sv2"/>
          <p:cNvSpPr/>
          <p:nvPr/>
        </p:nvSpPr>
        <p:spPr>
          <a:xfrm>
            <a:off x="3785616" y="278892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85616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877056" y="3200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time 70/15/15</a:t>
            </a:r>
            <a:endParaRPr lang="en-US" sz="1150" dirty="0"/>
          </a:p>
        </p:txBody>
      </p:sp>
      <p:sp>
        <p:nvSpPr>
          <p:cNvPr id="37" name="sv3"/>
          <p:cNvSpPr/>
          <p:nvPr/>
        </p:nvSpPr>
        <p:spPr>
          <a:xfrm>
            <a:off x="5449824" y="278892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49824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541264" y="3200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5-6 algorithms</a:t>
            </a:r>
            <a:endParaRPr lang="en-US" sz="1150" dirty="0"/>
          </a:p>
        </p:txBody>
      </p:sp>
      <p:sp>
        <p:nvSpPr>
          <p:cNvPr id="40" name="sv4"/>
          <p:cNvSpPr/>
          <p:nvPr/>
        </p:nvSpPr>
        <p:spPr>
          <a:xfrm>
            <a:off x="7114032" y="2788920"/>
            <a:ext cx="1554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14032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205472" y="3200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once vs baseline with 95% CI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for "useful": beat a naive baseline with a confidence interval that excludes it. Accuracy alone is never trusted.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audit: data structure explains the results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t0.5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(3+ days)</a:t>
            </a:r>
            <a:endParaRPr lang="en-US" sz="1000" dirty="0"/>
          </a:p>
        </p:txBody>
      </p:sp>
      <p:sp>
        <p:nvSpPr>
          <p:cNvPr id="7" name="st2.75"/>
          <p:cNvSpPr/>
          <p:nvPr/>
        </p:nvSpPr>
        <p:spPr>
          <a:xfrm>
            <a:off x="25146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returned</a:t>
            </a:r>
            <a:endParaRPr lang="en-US" sz="1000" dirty="0"/>
          </a:p>
        </p:txBody>
      </p:sp>
      <p:sp>
        <p:nvSpPr>
          <p:cNvPr id="10" name="st5"/>
          <p:cNvSpPr/>
          <p:nvPr/>
        </p:nvSpPr>
        <p:spPr>
          <a:xfrm>
            <a:off x="45720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no line items</a:t>
            </a:r>
            <a:endParaRPr lang="en-US" sz="1000" dirty="0"/>
          </a:p>
        </p:txBody>
      </p:sp>
      <p:sp>
        <p:nvSpPr>
          <p:cNvPr id="13" name="st7.25"/>
          <p:cNvSpPr/>
          <p:nvPr/>
        </p:nvSpPr>
        <p:spPr>
          <a:xfrm>
            <a:off x="6629400" y="1097280"/>
            <a:ext cx="2057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1430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1,545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737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warehouse-product stock records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trap: Delivery_Performance status is a rule of delay days, so using it gives a fake 100% score.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contradicts reality: cancelled orders still ship and get returned at normal rates.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supplier key and no warehouse capacity fields exist anywhere in the source tables.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eight full months of history (data ends 8 Sep 2026), so seasonality cannot be learned.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promised delivery date, carrier, route or event timestamps, the likeliest true drivers of delay.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uniform delays, rare returns, flat trends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01_target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2341"/>
            <a:ext cx="8229600" cy="1770077"/>
          </a:xfrm>
          <a:prstGeom prst="rect">
            <a:avLst/>
          </a:prstGeom>
        </p:spPr>
      </p:pic>
      <p:pic>
        <p:nvPicPr>
          <p:cNvPr id="5" name="Image 1" descr="08_monthly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99" y="2788920"/>
            <a:ext cx="7566203" cy="1737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uniform (64% late); returns are 9.5%; monthly trends are flat; September is partial.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data quality is structural, not random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03_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9879"/>
            <a:ext cx="3383280" cy="2015042"/>
          </a:xfrm>
          <a:prstGeom prst="rect">
            <a:avLst/>
          </a:prstGeom>
        </p:spPr>
      </p:pic>
      <p:pic>
        <p:nvPicPr>
          <p:cNvPr id="5" name="Image 1" descr="02_missing_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078504"/>
            <a:ext cx="2377440" cy="860512"/>
          </a:xfrm>
          <a:prstGeom prst="rect">
            <a:avLst/>
          </a:prstGeom>
        </p:spPr>
      </p:pic>
      <p:pic>
        <p:nvPicPr>
          <p:cNvPr id="6" name="Image 2" descr="04_outl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82471"/>
            <a:ext cx="5852160" cy="1316019"/>
          </a:xfrm>
          <a:prstGeom prst="rect">
            <a:avLst/>
          </a:prstGeom>
        </p:spPr>
      </p:pic>
      <p:sp>
        <p:nvSpPr>
          <p:cNvPr id="7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arise only from joins: 236 orders without items (4.7%) and first-order history gaps.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distributions and large baskets are genuine, so outliers were kept.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inside pipelines: median imputation, one-hot encoding, scaling for linear models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features show no link to the targets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05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2" y="1554480"/>
            <a:ext cx="3068516" cy="2307811"/>
          </a:xfrm>
          <a:prstGeom prst="rect">
            <a:avLst/>
          </a:prstGeom>
        </p:spPr>
      </p:pic>
      <p:pic>
        <p:nvPicPr>
          <p:cNvPr id="5" name="Image 1" descr="06_segment_r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608" y="914400"/>
            <a:ext cx="3117752" cy="1591697"/>
          </a:xfrm>
          <a:prstGeom prst="rect">
            <a:avLst/>
          </a:prstGeom>
        </p:spPr>
      </p:pic>
      <p:pic>
        <p:nvPicPr>
          <p:cNvPr id="6" name="Image 2" descr="07_mutual_inform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608" y="2788920"/>
            <a:ext cx="3117752" cy="1563107"/>
          </a:xfrm>
          <a:prstGeom prst="rect">
            <a:avLst/>
          </a:prstGeom>
        </p:spPr>
      </p:pic>
      <p:sp>
        <p:nvSpPr>
          <p:cNvPr id="7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correlation with late or returned.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and return rates do not differ by warehouse, city, month or weekday (all p above 0.05).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barely beats random-noise columns, an early warning for the models.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scorecard: nothing beats its baseline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304288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822960"/>
                <a:gridCol w="640080"/>
                <a:gridCol w="731520"/>
                <a:gridCol w="1188720"/>
                <a:gridCol w="17373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</a:rPr>
                        <a:t>Delivery delay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0.522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0.500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0.477 to 0.565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No meaningful signal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</a:rPr>
                        <a:t>Product return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0.526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0.500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0.440 to 0.604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No meaningful signal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</a:rPr>
                        <a:t>Customer value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R-squared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-0.030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-0.080 to -0.015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No meaningful signal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</a:rPr>
                        <a:t>Demand forecasting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R-squared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-0.092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-0.161 to -0.039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No meaningful signal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</a:rPr>
                        <a:t>Supplier (SIMULATED link)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0.424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0.500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</a:rPr>
                        <a:t>0.233 to 0.616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No meaningful signal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d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520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0.50 is a coin flip; R-squared below 0 is worse than predicting the average. Delay and return intervals include 0.50; customer-value and demand intervals sit entirely below 0. Delay accuracy also falls below the "always late" rule (65.5% on the test period).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Diagnostics: delay and return models hug the diagonal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10_delay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8955"/>
            <a:ext cx="5760720" cy="1468289"/>
          </a:xfrm>
          <a:prstGeom prst="rect">
            <a:avLst/>
          </a:prstGeom>
        </p:spPr>
      </p:pic>
      <p:pic>
        <p:nvPicPr>
          <p:cNvPr id="5" name="Image 1" descr="20_return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2035"/>
            <a:ext cx="5760720" cy="1468289"/>
          </a:xfrm>
          <a:prstGeom prst="rect">
            <a:avLst/>
          </a:prstGeom>
        </p:spPr>
      </p:pic>
      <p:sp>
        <p:nvSpPr>
          <p:cNvPr id="6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plots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sit on the random-guess line.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Predicted-probability distributions for late and on-time orders overlap almost completely.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show the accuracy paradox: 92% accuracy by predicting "no return" while catching none.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value: past spend does not predict future spend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30_customer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1708"/>
            <a:ext cx="5760720" cy="1322783"/>
          </a:xfrm>
          <a:prstGeom prst="rect">
            <a:avLst/>
          </a:prstGeom>
        </p:spPr>
      </p:pic>
      <p:pic>
        <p:nvPicPr>
          <p:cNvPr id="5" name="Image 1" descr="31_customer_value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2035"/>
            <a:ext cx="5760720" cy="1468289"/>
          </a:xfrm>
          <a:prstGeom prst="rect">
            <a:avLst/>
          </a:prstGeom>
        </p:spPr>
      </p:pic>
      <p:sp>
        <p:nvSpPr>
          <p:cNvPr id="6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plots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and future spend correlate at about 0.00.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do not track actuals; R-squared is -0.03.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Top-20% targeting captures 11.5% of value, below random (20%) and the run-rate rule (14.6%).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Demand: monthly units are noise around a stable mean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40_demand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1708"/>
            <a:ext cx="5760720" cy="1322783"/>
          </a:xfrm>
          <a:prstGeom prst="rect">
            <a:avLst/>
          </a:prstGeom>
        </p:spPr>
      </p:pic>
      <p:pic>
        <p:nvPicPr>
          <p:cNvPr id="5" name="Image 1" descr="41_demand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2035"/>
            <a:ext cx="5760720" cy="1468289"/>
          </a:xfrm>
          <a:prstGeom prst="rect">
            <a:avLst/>
          </a:prstGeom>
        </p:spPr>
      </p:pic>
      <p:sp>
        <p:nvSpPr>
          <p:cNvPr id="6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plots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41 units per product-month (std about 17).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 explains almost nothing about this month (correlation 0.03).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R-squared -0.09; naive forecasts do no better, so use safety-stock rules.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is tiny and indistinguishable from zero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5588"/>
            <a:ext cx="5760720" cy="3423824"/>
          </a:xfrm>
          <a:prstGeom prst="rect">
            <a:avLst/>
          </a:prstGeom>
        </p:spPr>
      </p:pic>
      <p:sp>
        <p:nvSpPr>
          <p:cNvPr id="5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on the test set with 20 repeats.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three models all top-10 features lie within 2 standard deviations of zero; for delay, 7 of 10.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describe what algorithms fitted to noise, not business drivers.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summaries agree: no coherent drivers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11_delay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8" y="1097280"/>
            <a:ext cx="2172343" cy="1737360"/>
          </a:xfrm>
          <a:prstGeom prst="rect">
            <a:avLst/>
          </a:prstGeom>
        </p:spPr>
      </p:pic>
      <p:pic>
        <p:nvPicPr>
          <p:cNvPr id="5" name="Image 1" descr="21_return_sh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289" y="1097280"/>
            <a:ext cx="2164622" cy="1737360"/>
          </a:xfrm>
          <a:prstGeom prst="rect">
            <a:avLst/>
          </a:prstGeom>
        </p:spPr>
      </p:pic>
      <p:pic>
        <p:nvPicPr>
          <p:cNvPr id="6" name="Image 2" descr="32_customer_sh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83" y="2880360"/>
            <a:ext cx="2159474" cy="1737360"/>
          </a:xfrm>
          <a:prstGeom prst="rect">
            <a:avLst/>
          </a:prstGeom>
        </p:spPr>
      </p:pic>
      <p:pic>
        <p:nvPicPr>
          <p:cNvPr id="7" name="Image 3" descr="42_demand_sh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289" y="2880360"/>
            <a:ext cx="2164622" cy="1737360"/>
          </a:xfrm>
          <a:prstGeom prst="rect">
            <a:avLst/>
          </a:prstGeom>
        </p:spPr>
      </p:pic>
      <p:sp>
        <p:nvSpPr>
          <p:cNvPr id="8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SHAP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delay and return. Bottom: customer value and demand.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mixed-sign contributions with no stable pattern.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only meaningful when a model has skill.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Warehouses: no site stands out; capacity is unmeasured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50_warehouse_lat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7082"/>
            <a:ext cx="5303520" cy="1960636"/>
          </a:xfrm>
          <a:prstGeom prst="rect">
            <a:avLst/>
          </a:prstGeom>
        </p:spPr>
      </p:pic>
      <p:sp>
        <p:nvSpPr>
          <p:cNvPr id="5" name="st0.5"/>
          <p:cNvSpPr/>
          <p:nvPr/>
        </p:nvSpPr>
        <p:spPr>
          <a:xfrm>
            <a:off x="457200" y="320040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1,007,764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 (15 sites)</a:t>
            </a:r>
            <a:endParaRPr lang="en-US" sz="1000" dirty="0"/>
          </a:p>
        </p:txBody>
      </p:sp>
      <p:sp>
        <p:nvSpPr>
          <p:cNvPr id="8" name="st2.5"/>
          <p:cNvSpPr/>
          <p:nvPr/>
        </p:nvSpPr>
        <p:spPr>
          <a:xfrm>
            <a:off x="2286000" y="320040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8600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use, last 7 days vs P90 week</a:t>
            </a:r>
            <a:endParaRPr lang="en-US" sz="1000" dirty="0"/>
          </a:p>
        </p:txBody>
      </p:sp>
      <p:sp>
        <p:nvSpPr>
          <p:cNvPr id="11" name="st4.5"/>
          <p:cNvSpPr/>
          <p:nvPr/>
        </p:nvSpPr>
        <p:spPr>
          <a:xfrm>
            <a:off x="4114800" y="320040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of 15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 on storage or throughput (assumed cap.)</a:t>
            </a:r>
            <a:endParaRPr lang="en-US" sz="1000" dirty="0"/>
          </a:p>
        </p:txBody>
      </p:sp>
      <p:sp>
        <p:nvSpPr>
          <p:cNvPr id="14" name="wc"/>
          <p:cNvSpPr/>
          <p:nvPr/>
        </p:nvSpPr>
        <p:spPr>
          <a:xfrm>
            <a:off x="5989320" y="1097280"/>
            <a:ext cx="2697480" cy="34747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1207008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58.7% to 68.0%; chi-square p = 0.33, ANOVA p = 0.76: differences are chance.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SKU count, volume: no link to late rate.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capacity field exists. Throughput capacity is derived from each site's 90th-percentile week; storage capacity is an editable ASSUMPTION.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101 months of stock cover suggests overstock or a unit mismatch: validate.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link is assumed: method validated, suppliers not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60_supplier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5036"/>
            <a:ext cx="2926080" cy="1581848"/>
          </a:xfrm>
          <a:prstGeom prst="rect">
            <a:avLst/>
          </a:prstGeom>
        </p:spPr>
      </p:pic>
      <p:pic>
        <p:nvPicPr>
          <p:cNvPr id="5" name="Image 1" descr="61_supplier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5917"/>
            <a:ext cx="5760720" cy="1680525"/>
          </a:xfrm>
          <a:prstGeom prst="rect">
            <a:avLst/>
          </a:prstGeom>
        </p:spPr>
      </p:pic>
      <p:sp>
        <p:nvSpPr>
          <p:cNvPr id="6" name="ins"/>
          <p:cNvSpPr/>
          <p:nvPr/>
        </p:nvSpPr>
        <p:spPr>
          <a:xfrm>
            <a:off x="6400800" y="1097280"/>
            <a:ext cx="2286000" cy="3520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link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supplier key, so products were assigned to suppliers at random (seeded).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outcomes: no differences (p = 0.89; 4 of 150 outside limits vs about 7 expected).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synthetic effect found: test AUC 0.75, led by historical late rate.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rank real suppliers with this.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cautionary tests: leakage and targeting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9728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9728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score is proof of leakage, not success. And the ML model ranks customers worse than a simple spend rule or even random choice.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dashboards: monitoring, alerts and capacity KPIs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dashboard_kpis_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2999"/>
            <a:ext cx="4297680" cy="3357563"/>
          </a:xfrm>
          <a:prstGeom prst="rect">
            <a:avLst/>
          </a:prstGeom>
        </p:spPr>
      </p:pic>
      <p:pic>
        <p:nvPicPr>
          <p:cNvPr id="5" name="Image 1" descr="dashboard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51596"/>
            <a:ext cx="3794760" cy="173728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892040" y="292608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dashboard: polls CSVs, loads new files, or replays history; hosted link available.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auto-refresh, inventory cover, model health.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with period deltas, filters, 99% control-limit alerts, capacity scorecard.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only; no predictions, since no model passes the skill gate.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key insights at a glance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in0"/>
          <p:cNvSpPr/>
          <p:nvPr/>
        </p:nvSpPr>
        <p:spPr>
          <a:xfrm>
            <a:off x="457200" y="105156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115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 is network-wide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380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late; no warehouse, city or month differs</a:t>
            </a:r>
            <a:endParaRPr lang="en-US" sz="1050" dirty="0"/>
          </a:p>
        </p:txBody>
      </p:sp>
      <p:sp>
        <p:nvSpPr>
          <p:cNvPr id="8" name="in1"/>
          <p:cNvSpPr/>
          <p:nvPr/>
        </p:nvSpPr>
        <p:spPr>
          <a:xfrm>
            <a:off x="4663440" y="105156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051560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115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flat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380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everywhere; nothing flags risky orders</a:t>
            </a:r>
            <a:endParaRPr lang="en-US" sz="1050" dirty="0"/>
          </a:p>
        </p:txBody>
      </p:sp>
      <p:sp>
        <p:nvSpPr>
          <p:cNvPr id="12" name="in2"/>
          <p:cNvSpPr/>
          <p:nvPr/>
        </p:nvSpPr>
        <p:spPr>
          <a:xfrm>
            <a:off x="457200" y="1764792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764792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does not predict value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093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vs future spend correlation about 0.00</a:t>
            </a:r>
            <a:endParaRPr lang="en-US" sz="1050" dirty="0"/>
          </a:p>
        </p:txBody>
      </p:sp>
      <p:sp>
        <p:nvSpPr>
          <p:cNvPr id="16" name="in3"/>
          <p:cNvSpPr/>
          <p:nvPr/>
        </p:nvSpPr>
        <p:spPr>
          <a:xfrm>
            <a:off x="4663440" y="1764792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764792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noise around a mean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093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41 units per product-month</a:t>
            </a:r>
            <a:endParaRPr lang="en-US" sz="1050" dirty="0"/>
          </a:p>
        </p:txBody>
      </p:sp>
      <p:sp>
        <p:nvSpPr>
          <p:cNvPr id="20" name="in4"/>
          <p:cNvSpPr/>
          <p:nvPr/>
        </p:nvSpPr>
        <p:spPr>
          <a:xfrm>
            <a:off x="457200" y="247802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478024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creates fake accuracy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2807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days / status give 100% AUC</a:t>
            </a:r>
            <a:endParaRPr lang="en-US" sz="1050" dirty="0"/>
          </a:p>
        </p:txBody>
      </p:sp>
      <p:sp>
        <p:nvSpPr>
          <p:cNvPr id="24" name="in5"/>
          <p:cNvSpPr/>
          <p:nvPr/>
        </p:nvSpPr>
        <p:spPr>
          <a:xfrm>
            <a:off x="4663440" y="247802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478024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is invisible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2807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key; method validated on simulated link</a:t>
            </a:r>
            <a:endParaRPr lang="en-US" sz="1050" dirty="0"/>
          </a:p>
        </p:txBody>
      </p:sp>
      <p:sp>
        <p:nvSpPr>
          <p:cNvPr id="28" name="in6"/>
          <p:cNvSpPr/>
          <p:nvPr/>
        </p:nvSpPr>
        <p:spPr>
          <a:xfrm>
            <a:off x="457200" y="319125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191256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are statistically alike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0.33 and 0.76; capacity unmeasured</a:t>
            </a:r>
            <a:endParaRPr lang="en-US" sz="1050" dirty="0"/>
          </a:p>
        </p:txBody>
      </p:sp>
      <p:sp>
        <p:nvSpPr>
          <p:cNvPr id="32" name="in7"/>
          <p:cNvSpPr/>
          <p:nvPr/>
        </p:nvSpPr>
        <p:spPr>
          <a:xfrm>
            <a:off x="4663440" y="319125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191256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looks extreme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101 months of cover vs recent shipments</a:t>
            </a:r>
            <a:endParaRPr lang="en-US" sz="1050" dirty="0"/>
          </a:p>
        </p:txBody>
      </p:sp>
      <p:sp>
        <p:nvSpPr>
          <p:cNvPr id="36" name="in8"/>
          <p:cNvSpPr/>
          <p:nvPr/>
        </p:nvSpPr>
        <p:spPr>
          <a:xfrm>
            <a:off x="457200" y="390448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3904488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3968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stock data are unreliable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Contradictions, duplicates, items-less orders</a:t>
            </a:r>
            <a:endParaRPr lang="en-US" sz="1050" dirty="0"/>
          </a:p>
        </p:txBody>
      </p:sp>
      <p:sp>
        <p:nvSpPr>
          <p:cNvPr id="40" name="in9"/>
          <p:cNvSpPr/>
          <p:nvPr/>
        </p:nvSpPr>
        <p:spPr>
          <a:xfrm>
            <a:off x="4663440" y="390448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54880" y="3904488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3968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not algorithms, is the bottleneck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12064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drivers cap any model</a:t>
            </a:r>
            <a:endParaRPr lang="en-US" sz="10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Fourteen recommendations in four groups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659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drivers</a:t>
            </a:r>
            <a:endParaRPr lang="en-US" sz="1250" dirty="0"/>
          </a:p>
        </p:txBody>
      </p:sp>
      <p:sp>
        <p:nvSpPr>
          <p:cNvPr id="6" name="g0"/>
          <p:cNvSpPr/>
          <p:nvPr/>
        </p:nvSpPr>
        <p:spPr>
          <a:xfrm>
            <a:off x="457200" y="1554480"/>
            <a:ext cx="1965960" cy="30175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664208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delivery date on every order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timestamps, carrier, route, distance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SupplierID plus PO and receipt dates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warehouse capacity (positions, labour, shifts)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42032" y="1051560"/>
            <a:ext cx="19659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integrity</a:t>
            </a:r>
            <a:endParaRPr lang="en-US" sz="1250" dirty="0"/>
          </a:p>
        </p:txBody>
      </p:sp>
      <p:sp>
        <p:nvSpPr>
          <p:cNvPr id="10" name="g1"/>
          <p:cNvSpPr/>
          <p:nvPr/>
        </p:nvSpPr>
        <p:spPr>
          <a:xfrm>
            <a:off x="2542032" y="1554480"/>
            <a:ext cx="1965960" cy="30175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664208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order-status rules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single-record inventory; explain ~101 months cover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orders at entry (no empty orders)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or repurpose the redundant delivery-performance 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196596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smarter</a:t>
            </a:r>
            <a:endParaRPr lang="en-US" sz="1250" dirty="0"/>
          </a:p>
        </p:txBody>
      </p:sp>
      <p:sp>
        <p:nvSpPr>
          <p:cNvPr id="14" name="g2"/>
          <p:cNvSpPr/>
          <p:nvPr/>
        </p:nvSpPr>
        <p:spPr>
          <a:xfrm>
            <a:off x="4626864" y="1554480"/>
            <a:ext cx="1965960" cy="30175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664208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lateness centrally: SLAs, cut-offs, carriers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before predicting: dashboards and control limits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rules instead of ML forecasts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11696" y="1051560"/>
            <a:ext cx="1965960" cy="457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11696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and govern</a:t>
            </a:r>
            <a:endParaRPr lang="en-US" sz="1250" dirty="0"/>
          </a:p>
        </p:txBody>
      </p:sp>
      <p:sp>
        <p:nvSpPr>
          <p:cNvPr id="18" name="g3"/>
          <p:cNvSpPr/>
          <p:nvPr/>
        </p:nvSpPr>
        <p:spPr>
          <a:xfrm>
            <a:off x="6711696" y="1554480"/>
            <a:ext cx="1965960" cy="30175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1664208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reasons, condition, fault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and contract data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gate: lower CI bound above 0.60 AUC or R-squared above 0.10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Improvements: delivered so far and what comes next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365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done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this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pipeline with chronological splits and baselines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and a deployment skill gate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console serving five models with warnings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and HTML live dashboards, now with capacity KPIs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method validated with a planted effect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workbook and notebooks for full reproducibility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123444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months</a:t>
            </a:r>
            <a:endParaRPr lang="en-US" sz="1200" dirty="0"/>
          </a:p>
        </p:txBody>
      </p:sp>
      <p:sp>
        <p:nvSpPr>
          <p:cNvPr id="9" name="rm0"/>
          <p:cNvSpPr/>
          <p:nvPr/>
        </p:nvSpPr>
        <p:spPr>
          <a:xfrm>
            <a:off x="5943600" y="1097280"/>
            <a:ext cx="27432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53328" y="10972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capture; hook dashboards to live feeds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84248"/>
            <a:ext cx="123444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9842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3-9 months</a:t>
            </a:r>
            <a:endParaRPr lang="en-US" sz="1200" dirty="0"/>
          </a:p>
        </p:txBody>
      </p:sp>
      <p:sp>
        <p:nvSpPr>
          <p:cNvPr id="13" name="rm1"/>
          <p:cNvSpPr/>
          <p:nvPr/>
        </p:nvSpPr>
        <p:spPr>
          <a:xfrm>
            <a:off x="5943600" y="1984248"/>
            <a:ext cx="27432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53328" y="198424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delay and return models; supplier scorecards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871216"/>
            <a:ext cx="1234440" cy="777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87121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9-18 months</a:t>
            </a:r>
            <a:endParaRPr lang="en-US" sz="1200" dirty="0"/>
          </a:p>
        </p:txBody>
      </p:sp>
      <p:sp>
        <p:nvSpPr>
          <p:cNvPr id="17" name="rm2"/>
          <p:cNvSpPr/>
          <p:nvPr/>
        </p:nvSpPr>
        <p:spPr>
          <a:xfrm>
            <a:off x="5943600" y="2871216"/>
            <a:ext cx="27432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53328" y="287121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demand, ETA prediction, inventory optimisation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758184"/>
            <a:ext cx="1234440" cy="777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75818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</a:t>
            </a:r>
            <a:endParaRPr lang="en-US" sz="1200" dirty="0"/>
          </a:p>
        </p:txBody>
      </p:sp>
      <p:sp>
        <p:nvSpPr>
          <p:cNvPr id="21" name="rm3"/>
          <p:cNvSpPr/>
          <p:nvPr/>
        </p:nvSpPr>
        <p:spPr>
          <a:xfrm>
            <a:off x="5943600" y="3758184"/>
            <a:ext cx="27432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3758184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allocation, carriers and safety stock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5546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now, capture the right data, and re-test prediction in 6-9 months.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days: promised dates, timestamps, carrier, supplier IDs and true warehouse capacity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live dashboards on scheduled data feeds and act on alerts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all models through the governance gate on the enriched 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Innocent Mphahlele   |   AnalystLab Africa </a:t>
            </a:r>
            <a:r>
              <a:rPr lang="en-US" sz="1200" b="1" dirty="0" smtClean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–Machine Learning Project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wiftLog Consolidated">
  <a:themeElements>
    <a:clrScheme name="SwiftLog Consolidated">
      <a:dk1>
        <a:srgbClr val="1A2433"/>
      </a:dk1>
      <a:lt1>
        <a:srgbClr val="FFFFFF"/>
      </a:lt1>
      <a:dk2>
        <a:srgbClr val="0B2545"/>
      </a:dk2>
      <a:lt2>
        <a:srgbClr val="F1F4F8"/>
      </a:lt2>
      <a:accent1>
        <a:srgbClr val="0B2545"/>
      </a:accent1>
      <a:accent2>
        <a:srgbClr val="0E7C7B"/>
      </a:accent2>
      <a:accent3>
        <a:srgbClr val="C8963E"/>
      </a:accent3>
      <a:accent4>
        <a:srgbClr val="B23A48"/>
      </a:accent4>
      <a:accent5>
        <a:srgbClr val="5C6B7A"/>
      </a:accent5>
      <a:accent6>
        <a:srgbClr val="3E6FA3"/>
      </a:accent6>
      <a:hlink>
        <a:srgbClr val="2A6FDB"/>
      </a:hlink>
      <a:folHlink>
        <a:srgbClr val="5C6B7A"/>
      </a:folHlink>
    </a:clrScheme>
    <a:fontScheme name="SwiftLog Consolidate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1741</Words>
  <Application>Microsoft Office PowerPoint</Application>
  <PresentationFormat>On-screen Show (16:9)</PresentationFormat>
  <Paragraphs>278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SwiftLog Consolidated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ML: Consolidated Insights, Visuals and Recommendations</dc:title>
  <dc:subject>PptxGenJS Presentation</dc:subject>
  <dc:creator>AnalystLab Africa Consulting</dc:creator>
  <cp:lastModifiedBy>dkinno</cp:lastModifiedBy>
  <cp:revision>3</cp:revision>
  <dcterms:created xsi:type="dcterms:W3CDTF">2026-10-18T07:42:00Z</dcterms:created>
  <dcterms:modified xsi:type="dcterms:W3CDTF">2026-10-18T20:00:14Z</dcterms:modified>
</cp:coreProperties>
</file>